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9728" cy="292608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E5FF"/>
                </a:solidFill>
                <a:latin typeface="Arial"/>
              </a:defRPr>
            </a:pPr>
            <a:r>
              <a:rPr dirty="0"/>
              <a:t>END-TO-END DATA SCIENCE &amp; MACHINE LEARNING PIPELINE</a:t>
            </a:r>
          </a:p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dirty="0"/>
              <a:t>Southeast Asia Economic Intelligence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rPr dirty="0"/>
              <a:t>Pipeline </a:t>
            </a:r>
            <a:r>
              <a:rPr dirty="0" err="1"/>
              <a:t>Analisis</a:t>
            </a:r>
            <a:r>
              <a:rPr dirty="0"/>
              <a:t> </a:t>
            </a:r>
            <a:r>
              <a:rPr dirty="0" err="1"/>
              <a:t>Lengkap</a:t>
            </a:r>
            <a:r>
              <a:rPr dirty="0"/>
              <a:t>: Data Gathering, Assessing, Cleaning, EDA (Heatmap), </a:t>
            </a:r>
            <a:r>
              <a:rPr dirty="0" err="1"/>
              <a:t>Pemodelan</a:t>
            </a:r>
            <a:r>
              <a:rPr dirty="0"/>
              <a:t> ML, &amp; </a:t>
            </a:r>
            <a:r>
              <a:rPr dirty="0" err="1"/>
              <a:t>Visualisasi</a:t>
            </a:r>
            <a:r>
              <a:rPr dirty="0"/>
              <a:t> </a:t>
            </a:r>
            <a:r>
              <a:rPr dirty="0" err="1"/>
              <a:t>Streamlit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97280" y="4937760"/>
            <a:ext cx="3200400" cy="11887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51206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Arsitektur ETL &amp; DB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Apache Airflow &amp; MySQL 8.0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Orkestrasi DAG &amp; integrasi relasional 3 indikator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937760"/>
            <a:ext cx="3200400" cy="11887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51206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Pipeline Engine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process.py (Data Science Core)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6 tahapan modular, fail-safe &amp; reproducible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937760"/>
            <a:ext cx="3200400" cy="11887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51206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Interactive Dashboard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Streamlit &amp; Plotly (5 Visual)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Visualisasi analitik real-time &amp; evaluasi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5F0A29-BF5D-CC22-3720-3310AD6E494E}"/>
              </a:ext>
            </a:extLst>
          </p:cNvPr>
          <p:cNvSpPr txBox="1"/>
          <p:nvPr/>
        </p:nvSpPr>
        <p:spPr>
          <a:xfrm>
            <a:off x="1097280" y="3409852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lang="en-US" sz="3600" dirty="0"/>
              <a:t>Safaril Adam – E1E124049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Arial"/>
              </a:defRPr>
            </a:pPr>
            <a:r>
              <a:t>✦  LATAR BELAKANG  |  LATAR BELAKANG PROYEK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Urgensi Analisis &amp; Pemodelan Ekonomi Kawasan ASEAN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1. Dinamika &amp; Disparitas ASEAN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Episentrum Pertumbuhan Global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• Pertumbuhan Pesat Regional: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Kawasan ASEAN (khususnya 6 negara utama: Indonesia, Malaysia, Singapura, Thailand, Filipina, Vietnam) merupakan salah satu motor penggerak ekonomi tercepat di dunia dalam dua dekade terakhir.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• Disparitas Karakteristik: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Terdapat variasi struktural yang sangat tajam: Indonesia memimpin skala pasar domestik raksasa (&gt; 275 juta jiwa), Singapura mendominasi nilai tambah per kapita dan jasa finansial, sedangkan Vietnam &amp; Thailand menjadi hub manufaktur rantai pasok global.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• Kebutuhan Komparasi Holistik: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Diperlukan analisis terintegrasi untuk melihat bagaimana populasi dan pasar tenaga kerja (pengangguran) saling mempengaruhi skala output ekonomi nasional.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2. Kebutuhan Otomasi ETL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Modernisasi Data Engineering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• Kelemahan Analisis Manual: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Pengambilan data makroekonomi secara konvensional (download manual file spreadsheet World Bank) lambat, terfragmentasi, dan rentan terhadap inkonsistensi format.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• Orkestrasi Apache Airflow: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Proyek ini membuktikan implementasi data pipeline modern: Apache Airflow secara otomatis menjadwalkan penarikan data berkala tanpa intervensi manusia (hands-off operation).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• Tata Kelola MySQL Terpusat: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Data dinormalisasi ke dalam skema basis data relasional (tabel gdp, population, unemployment), menjamin integritas data historis.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• Resiliensi Arsitektur: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Membangun sistem dengan fallback otomatis langsung ke API resmi jika koneksi database mengalami gangguan.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3. Proyeksi ML Bebas Bias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Sains Data &amp; Decision Support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• Keterbatasan Model Klasik: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Analisis regresi konvensional sering gagal menangkap pola non-linear dan korelasi silang multivariat antar negara berkembang.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• Mencegah Data Leakage: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Data ekonomi deret waktu memiliki tantangan kausalitas temporal. Kasus ini menerapkan validasi berbasis waktu (Time-Based Split) untuk menjamin pengujian realistis.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• Prediksi Berakurasi Tinggi: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Random Forest Regressor berhasil mencapai akurasi R² = 92.7% dalam memproyeksikan GDP out-of-time.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• Dukungan Keputusan Nyata: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Hasil pipeline divisualisasikan interaktif melalui Streamlit untuk membantu analis dan pengambil kebijakan merumuskan strategi ekonomi berbasis bukti.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Arial"/>
              </a:defRPr>
            </a:pPr>
            <a:r>
              <a:t>✦  RESEARCH QUESTIONS  |  RUMUSAN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Pertanyaan Penelitian &amp; Metode Analisis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Pertanyaan 1: Bagaimana perkembangan GDP dari waktu ke waktu?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Metode: Analisis Tren + Line Chart</a:t>
            </a:r>
          </a:p>
          <a:p>
            <a:pPr>
              <a:spcBef>
                <a:spcPts val="400"/>
              </a:spcBef>
              <a:defRPr sz="1000" b="1">
                <a:solidFill>
                  <a:srgbClr val="38BDF8"/>
                </a:solidFill>
              </a:defRPr>
            </a:pPr>
            <a:r>
              <a:t>Jawaban: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GDP keenam negara ASEAN menunjukkan tren pertumbuhan eksponensial yang konsisten sejak awal tahun 2000-an. Indonesia memimpin dengan GDP nominal melampaui $1.3 Triliun USD, diikuti Thailand dan Singapura. Terdapat kontraksi sementara pada krisis 1997–1998 dan pandemi 2020 yang segera pulih (V-shaped recovery).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Pertanyaan 2: Bagaimana hubungan Population dengan GDP?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Metode: Pearson Correlation + Scatter Plot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Jawaban: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Korelasi Pearson antara populasi dan GDP bernilai +0.605 (korelasi positif kuat). Negara dengan jumlah penduduk lebih besar cenderung memiliki output ekonomi lebih tinggi karena skala pasar domestik dan kapasitas tenaga kerja yang lebih luas.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3317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Pertanyaan 3: Bagaimana hubungan Unemployment dengan GDP?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Metode: Pearson Correlation + Scatter Plot</a:t>
            </a:r>
          </a:p>
          <a:p>
            <a:pPr>
              <a:spcBef>
                <a:spcPts val="400"/>
              </a:spcBef>
              <a:defRPr sz="1000" b="1">
                <a:solidFill>
                  <a:srgbClr val="F59E0B"/>
                </a:solidFill>
              </a:defRPr>
            </a:pPr>
            <a:r>
              <a:t>Jawaban: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Korelasi Pearson antara tingkat pengangguran dan GDP bernilai +0.118 (korelasi lemah/non-linear). Hal ini disebabkan oleh dominannya sektor informal di negara-negara berkembang ASEAN, sehingga perubahan angka pengangguran terbuka tidak selalu mencerminkan perubahan output ekonomi secara langsung.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3317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Pertanyaan 4: Dapatkah Random Forest memprediksi GDP berdasarkan indikator ekonomi?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Metode: Random Forest + MAE, RMSE, R²</a:t>
            </a:r>
          </a:p>
          <a:p>
            <a:pPr>
              <a:spcBef>
                <a:spcPts val="400"/>
              </a:spcBef>
              <a:defRPr sz="1000" b="1">
                <a:solidFill>
                  <a:srgbClr val="F43F5E"/>
                </a:solidFill>
              </a:defRPr>
            </a:pPr>
            <a:r>
              <a:t>Jawaban: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Ya. Model Random Forest Regressor berhasil mencapai skor R² = 0.927 (akurasi 92.7%) dengan MAE = $75.59 Miliar dan RMSE = $118.42 Miliar. Pendekatan Time-Based Split menjamin evaluasi realistis tanpa data leakage, membuktikan bahwa kombinasi populasi, tahun, pengangguran, dan identitas negara sudah cukup informatif untuk memproyeksikan skala GDP.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Arial"/>
              </a:defRPr>
            </a:pPr>
            <a:r>
              <a:t>✦  OVERVIEW  |  WORKFLOW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Alur Kerja End-to-End Analisis Data Ekonomi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1. Data Gathering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Tahapan Komputasi Terstruktur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Ekstraksi multi-negara dari MySQL &amp; World Bank API.</a:t>
            </a:r>
          </a:p>
          <a:p>
            <a:pPr>
              <a:defRPr sz="900">
                <a:solidFill>
                  <a:srgbClr val="00E5FF"/>
                </a:solidFill>
              </a:defRPr>
            </a:pPr>
            <a:r>
              <a:t>Engine: process.py  •  Output: Siap Visualisasi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2. Data Assessing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Tahapan Komputasi Terstruktur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Audit kualitas, missing values, duplikasi &amp; integritas.</a:t>
            </a:r>
          </a:p>
          <a:p>
            <a:pPr>
              <a:defRPr sz="900">
                <a:solidFill>
                  <a:srgbClr val="F59E0B"/>
                </a:solidFill>
              </a:defRPr>
            </a:pPr>
            <a:r>
              <a:t>Engine: process.py  •  Output: Siap Visualisasi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3. Data Cleaning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Tahapan Komputasi Terstruktur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Imputasi deret waktu linear per negara &amp; mapping ISO3.</a:t>
            </a:r>
          </a:p>
          <a:p>
            <a:pPr>
              <a:defRPr sz="900">
                <a:solidFill>
                  <a:srgbClr val="10B981"/>
                </a:solidFill>
              </a:defRPr>
            </a:pPr>
            <a:r>
              <a:t>Engine: process.py  •  Output: Siap Visualisasi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4. EDA &amp; Heatmap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Tahapan Komputasi Terstruktur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Analisis statistik deskriptif &amp; matriks korelasi Pearson.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Engine: process.py  •  Output: Siap Visualisasi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5. Pemodelan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Tahapan Komputasi Terstruktur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Random Forest Regressor dengan Time-Based Validation.</a:t>
            </a:r>
          </a:p>
          <a:p>
            <a:pPr>
              <a:defRPr sz="900">
                <a:solidFill>
                  <a:srgbClr val="F43F5E"/>
                </a:solidFill>
              </a:defRPr>
            </a:pPr>
            <a:r>
              <a:t>Engine: process.py  •  Output: Siap Visualisasi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6. Kesimpulan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Tahapan Komputasi Terstruktur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Sintesis temuan analitis otomatis &amp; rekomendasi nyata.</a:t>
            </a:r>
          </a:p>
          <a:p>
            <a:pPr>
              <a:defRPr sz="900">
                <a:solidFill>
                  <a:srgbClr val="10B981"/>
                </a:solidFill>
              </a:defRPr>
            </a:pPr>
            <a:r>
              <a:t>Engine: process.py  •  Output: Siap Visualisasi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Arial"/>
              </a:defRPr>
            </a:pPr>
            <a:r>
              <a:t>✦  TAHAP 01  |  TAHAP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Data Gathering: Penarikan Data dari Database &amp;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29768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Arsitektur Penarikan Data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MySQL &amp; API Fallback</a:t>
            </a:r>
          </a:p>
          <a:p>
            <a:pPr>
              <a:defRPr sz="1050" b="1">
                <a:solidFill>
                  <a:srgbClr val="00E5FF"/>
                </a:solidFill>
              </a:defRPr>
            </a:pPr>
            <a:r>
              <a:t>• Koneksi Database Utama: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MySQL port 3308 &amp; 3306 (user root), database `economic_db`.</a:t>
            </a:r>
          </a:p>
          <a:p>
            <a:pPr>
              <a:defRPr sz="1050" b="1">
                <a:solidFill>
                  <a:srgbClr val="00E5FF"/>
                </a:solidFill>
              </a:defRPr>
            </a:pPr>
            <a:r>
              <a:t>• Dukungan Schema SQL: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Mendukung tabel tunggal `economic_combined` maupun query SQL JOIN relasional antar tabel: `gdp`, `population`, dan `unemployment`.</a:t>
            </a:r>
          </a:p>
          <a:p>
            <a:pPr>
              <a:defRPr sz="1050" b="1">
                <a:solidFill>
                  <a:srgbClr val="00E5FF"/>
                </a:solidFill>
              </a:defRPr>
            </a:pPr>
            <a:r>
              <a:t>• Dukungan AllowNoPassword: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Adaptif mencoba password 'root' dan password kosong ('').</a:t>
            </a:r>
          </a:p>
          <a:p>
            <a:pPr>
              <a:defRPr sz="1050" b="1">
                <a:solidFill>
                  <a:srgbClr val="00E5FF"/>
                </a:solidFill>
              </a:defRPr>
            </a:pPr>
            <a:r>
              <a:t>• Fallback World Bank API: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Menarik 3 indikator (GDP, Populasi, Pengangguran) untuk 6 negara ASEAN secara otomatis jika database belum aktif.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463040"/>
            <a:ext cx="612648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1536192"/>
            <a:ext cx="5760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📦 VISUALISASI INGESTI DATA: VOLUME OBSERVASI PER NEGARA</a:t>
            </a:r>
          </a:p>
        </p:txBody>
      </p:sp>
      <p:pic>
        <p:nvPicPr>
          <p:cNvPr id="9" name="Picture 8" descr="diagram_gathering_ing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810512"/>
            <a:ext cx="5907024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Arial"/>
              </a:defRPr>
            </a:pPr>
            <a:r>
              <a:t>✦  TAHAP 02  |  TAHAP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Data Assessing: Audit Integritas &amp; Nilai Hilang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29768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Audit Kualitas Dataset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Diagnosis Masalah Data Raw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• Audit Missing Values: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Data historis indikator pengangguran memiliki kekosongan signifikan pada era 1960–1990 karena sistem pelaporan statistik belum seragam.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• Verifikasi Duplikasi Kunci: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Audit kunci komposit `(country_code, year)` untuk memastikan tidak ada redundansi observasi ganda.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• Validasi Tipe &amp; Range Data: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Memastikan tipe numerik valid (GDP &amp; pengangguran sebagai float, year sebagai int) dan mendeteksi anomali nilai negatif.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463040"/>
            <a:ext cx="612648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1536192"/>
            <a:ext cx="5760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🔍 AUDIT KELENGKAPAN: PERSENTASE VALID VS MISSING VALUES</a:t>
            </a:r>
          </a:p>
        </p:txBody>
      </p:sp>
      <p:pic>
        <p:nvPicPr>
          <p:cNvPr id="9" name="Picture 8" descr="diagram_assessing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810512"/>
            <a:ext cx="5907024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Arial"/>
              </a:defRPr>
            </a:pPr>
            <a:r>
              <a:t>✦  TAHAP 03  |  TAHAP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Data Cleaning: Sanitasi &amp; Imputasi Deret Waktu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29768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Metodologi Pembersihan Data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Imputasi Berbasis Time-Series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• Bahaya DropNA Sembarangan: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Menghapus baris kosong secara langsung akan memotong kesinambungan data deret waktu dan merusak tren historis.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• Interpolasi Linear per Negara: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Nilai hilang diimputasi secara mulus menggunakan linear interpolation khusus per kelompok negara untuk menjaga karakteristik lokal.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• Boundary Fill (ffill/bfill):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Ujung awal dan akhir deret diisi dengan forward/backward fill untuk stabilitas tanpa menimbulkan distorsi outlier.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• Mapping ISO3 &amp; Standardisasi: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Menambahkan nama resmi negara dan mengurutkan secara kronologis (country_code, year).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463040"/>
            <a:ext cx="612648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1536192"/>
            <a:ext cx="5760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✨ VISUALISASI IMPUTASI: SEBELUM VS SESUDAH CLEANING</a:t>
            </a:r>
          </a:p>
        </p:txBody>
      </p:sp>
      <p:pic>
        <p:nvPicPr>
          <p:cNvPr id="9" name="Picture 8" descr="diagram_cleaning_impu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810512"/>
            <a:ext cx="5907024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Arial"/>
              </a:defRPr>
            </a:pPr>
            <a:r>
              <a:t>✦  TAHAP 04  |  TAHAP 4 • EDA (HEATMAP)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Matriks Korelasi Pearson Antar Variabel Makroekonomi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12648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5760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🔥 HEATMAP KORELASI PEARSON (GDP, POPULASI, PENGANGGURAN, TAHUN)</a:t>
            </a:r>
          </a:p>
        </p:txBody>
      </p:sp>
      <p:pic>
        <p:nvPicPr>
          <p:cNvPr id="7" name="Picture 6" descr="diagram_eda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10512"/>
            <a:ext cx="5907024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Interpretasi Matriks Korelasi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Analisis Hubungan Antar Indikator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• Populasi vs GDP (+0.605):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Korelasi positif kuat. Skala jumlah penduduk berkontribusi langsung pada ukuran output ekonomi dan pasar domestik negara ASEAN.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• Tahun vs GDP (+0.548):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Pertumbuhan ekonomi kumulatif jangka panjang konsisten meningkat tajam seiring modernisasi teknologi dan perdagangan.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• Pengangguran vs GDP (+0.118):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Korelasi lemah/non-linear menunjukkan bahwa di negara berkembang, sebagian besar tenaga kerja terserap di sektor informal saat sektor formal menurun.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• Implikasi Pemodelan ML: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Populasi dan tren tahunan menjadi fitur paling informatif dalam memproyeksikan skala GDP.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Arial"/>
              </a:defRPr>
            </a:pPr>
            <a:r>
              <a:t>✦  TAHAP 04  |  TAHAP 4 • EDA (DIAGRAM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Tren Pertumbuhan GDP Negara dari Tahun ke Tahun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749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Dinamika Trajektori Historis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Visualisasi Multi-Line Plot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• Lonjakan Pasca-2000: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GDP kawasan mengalami akselerasi eksponensial sejak awal tahun 2000-an didorong oleh integrasi rantai pasok global dan manufaktur regional.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• Resiliensi Krisis Finansial: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Terlihat guncangan tajam saat krisis 1997–1998 dan pandemi 2020 yang cepat mengalami pemulihan berbentuk V-shaped recovery.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• Skala Ekonomi Terbesar: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Indonesia menduduki posisi GDP nominal tertinggi di ASEAN (&gt; $1.37 Triliun USD), diikuti oleh Thailand, Singapura, dan Malaysia.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463040"/>
            <a:ext cx="630936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0" y="15361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📈 DIAGRAM 1: LINE CHART TREN GDP PER NEGARA (USD)</a:t>
            </a:r>
          </a:p>
        </p:txBody>
      </p:sp>
      <p:pic>
        <p:nvPicPr>
          <p:cNvPr id="9" name="Picture 8" descr="diagram_1_gdp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810512"/>
            <a:ext cx="6089904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Arial"/>
              </a:defRPr>
            </a:pPr>
            <a:r>
              <a:t>✦  TAHAP 04  |  TAHAP 4 • EDA (DIAGRAM 2 &amp;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Analisis Hubungan: Populasi &amp; Pengangguran vs GDP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84048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846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👥 DIAGRAM 2: SCATTER PLOT POPULASI VS GDP</a:t>
            </a:r>
          </a:p>
        </p:txBody>
      </p:sp>
      <p:pic>
        <p:nvPicPr>
          <p:cNvPr id="7" name="Picture 6" descr="diagram_2_pop_vs_g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10512"/>
            <a:ext cx="4992624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440680"/>
            <a:ext cx="5212080" cy="86868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Insight Populasi (r = +0.605)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Korelasi positif membuktikan ukuran populasi memperluas pasar domestik dan output ekonomi total.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384048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36192"/>
            <a:ext cx="4846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📉 DIAGRAM 3: BUBBLE PLOT PENGANGGURAN VS GDP (UKURAN: POPULASI)</a:t>
            </a:r>
          </a:p>
        </p:txBody>
      </p:sp>
      <p:pic>
        <p:nvPicPr>
          <p:cNvPr id="12" name="Picture 11" descr="diagram_3_unemp_vs_gd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810512"/>
            <a:ext cx="4992624" cy="33832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5440680"/>
            <a:ext cx="5212080" cy="86868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56235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Insight Pengangguran (r = +0.118)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Sektor informal yang dominan membuat fluktuasi pengangguran tidak selalu berbanding lurus dengan GDP.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Arial"/>
              </a:defRPr>
            </a:pPr>
            <a:r>
              <a:t>✦  TAHAP 04  |  TAHAP 4 • EDA (DIAGRAM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Perbandingan Rata-rata GDP Antar Negara di ASEAN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30936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📊 DIAGRAM 4: BAR CHART KOMPARASI RATA-RATA GDP (TRILIUN USD)</a:t>
            </a:r>
          </a:p>
        </p:txBody>
      </p:sp>
      <p:pic>
        <p:nvPicPr>
          <p:cNvPr id="7" name="Picture 6" descr="diagram_4_gdp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10512"/>
            <a:ext cx="6089904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463040"/>
            <a:ext cx="411480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0" y="1645920"/>
            <a:ext cx="3749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Struktur Perekonomian Regional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Disparitas &amp; Produktivitas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• Disparitas Kapasitas Output: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Terdapat selisih skala output yang lebar antara negara berpopulasi besar (Indonesia) dengan basis populasi menengah.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• Produktivitas per Kapita: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Meskipun total GDP Indonesia paling masif, Singapura mencatatkan nilai tambah per kapita tertinggi di kawasan berkat hub finansial dan logistik dunia.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• Konsistensi Industri Vietnam: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Vietnam memperlihatkan laju ekspansi manufaktur paling konsisten dalam dua dekade terakhir.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Arial"/>
              </a:defRPr>
            </a:pPr>
            <a:r>
              <a:t>✦  TAHAP 05  |  TAHAP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Pemodelan Machine Learning: Random Forest Regressor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Konfigurasi Algoritma &amp; Fitur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Arsitektur Ensemble Regression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• Algoritma Terpilih: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Random Forest Regressor (300 estimator pohon, random_state=42, n_jobs=-1).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• Target Prediksi (y):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GDP nominal tahunan dalam USD.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• Fitur Prediktor (X):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Tahun (tren waktu), Populasi (skala demografi), Tingkat Pengangguran (pasar tenaga kerja).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• One-Hot Encoding: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Kategori kode negara (`country_code`) diubah menjadi variabel dummy biner untuk membedakan karakteristik bawaan negara.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• Ketahanan Non-Linear: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Mampu menangkap interaksi kompleks tanpa resiko overfitting berlebih.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Validasi Out-of-Time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Mencegah Data Leakage Deret Waktu</a:t>
            </a:r>
          </a:p>
          <a:p>
            <a:pPr>
              <a:defRPr sz="1050" b="1">
                <a:solidFill>
                  <a:srgbClr val="F43F5E"/>
                </a:solidFill>
              </a:defRPr>
            </a:pPr>
            <a:r>
              <a:t>• Bahaya Random K-Fold Split: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Pemisahan acak pada data deret waktu akan menyebabkan data masa depan bocor ke masa lalu, menghasilkan akurasi palsu.</a:t>
            </a:r>
          </a:p>
          <a:p>
            <a:pPr>
              <a:defRPr sz="1050" b="1">
                <a:solidFill>
                  <a:srgbClr val="F43F5E"/>
                </a:solidFill>
              </a:defRPr>
            </a:pPr>
            <a:r>
              <a:t>• Time-Based Split Approach: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Dataset dibagi secara temporal: data historis awal dialokasikan sebagai Training Set, sedangkan 3 tahun terakhir dialokasikan murni sebagai Testing Set.</a:t>
            </a:r>
          </a:p>
          <a:p>
            <a:pPr>
              <a:defRPr sz="1050" b="1">
                <a:solidFill>
                  <a:srgbClr val="F43F5E"/>
                </a:solidFill>
              </a:defRPr>
            </a:pPr>
            <a:r>
              <a:t>• Simulasi Kondisi Riil: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Pendekatan ini menguji kemampuan model untuk memproyeksikan GDP pada periode masa depan yang belum pernah dilihat sebelumnya secara realistis.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Arial"/>
              </a:defRPr>
            </a:pPr>
            <a:r>
              <a:t>✦  EVALUASI  |  TAHAP 5 • EVALUASI (DIAGRAM 5 &amp; 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Kinerja Model: Aktual vs Prediksi &amp; Feature Importance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65760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846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3F5E"/>
                </a:solidFill>
                <a:latin typeface="Arial"/>
              </a:defRPr>
            </a:pPr>
            <a:r>
              <a:t>🎯 DIAGRAM 5: AKTUAL VS PREDIKSI GDP (GARIS PUTUS-PUTUS = IDEAL)</a:t>
            </a:r>
          </a:p>
        </p:txBody>
      </p:sp>
      <p:pic>
        <p:nvPicPr>
          <p:cNvPr id="7" name="Picture 6" descr="diagram_5_model_actual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10512"/>
            <a:ext cx="4992624" cy="3200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257800"/>
            <a:ext cx="1645920" cy="105156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R² Score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0.927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Akurasi 92.7%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5257800"/>
            <a:ext cx="1645920" cy="105156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80" y="544068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MAE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$75.59 B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Mean Absolute Err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5257800"/>
            <a:ext cx="1645920" cy="105156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544068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RMSE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$118.42 B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Root Mean Squared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365760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36192"/>
            <a:ext cx="4846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⭐ FEATURE IMPORTANCE (KONTRIBUSI PREDIKTOR UTAMA)</a:t>
            </a:r>
          </a:p>
        </p:txBody>
      </p:sp>
      <p:pic>
        <p:nvPicPr>
          <p:cNvPr id="16" name="Picture 15" descr="diagram_6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810512"/>
            <a:ext cx="4992624" cy="3200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17920" y="5257800"/>
            <a:ext cx="5212080" cy="105156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F2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54406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Interpretasi Prediktor Utama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Populasi (~48%) dan Tahun (~24%) mendominasi proyeksi GDP nominal, disusul oleh efek spesifik negara (~18%) dan tingkat pengangguran (~10%).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Arial"/>
              </a:defRPr>
            </a:pPr>
            <a:r>
              <a:t>✦  DASHBOARD  |  ANTARMUKA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Implementasi 5 Visual Diagram pada Streamlit (app.py)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Diagram 1 (Multi-Line)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Perkembangan Tren GDP Historis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Memetakan pertumbuhan tahunan antar negara dengan hover tooltip interaktif.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Engine: Plotly Interactive • Cached: @st.cache_data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Diagram 2 (Scatter Plot)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Korelasi Populasi vs GDP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Menampilkan sebaran hubungan positif linear antara jumlah penduduk dan output.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Engine: Plotly Interactive • Cached: @st.cache_data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Diagram 3 (Bubble Chart)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Tingkat Pengangguran vs GDP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Visualisasi multivariat dengan ukuran bubble proporsional terhadap populasi.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Engine: Plotly Interactive • Cached: @st.cache_data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4023360"/>
            <a:ext cx="4297680" cy="219456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420624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Diagram 4 (Bar Chart)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Komparasi Rata-rata GDP ASEAN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Perbandingan skala rata-rata ekonomi triliun USD yang terurut secara informatif.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Engine: Plotly Interactive • Cached: @st.cache_data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4297680" cy="219456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Diagram 5 (Scatter Evaluasi)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Uji Aktual vs Prediksi Model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Evaluasi out-of-time model Random Forest terhadap garis referensi diagonal ideal.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Engine: Plotly Interactive • Cached: @st.cache_data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Arial"/>
              </a:defRPr>
            </a:pPr>
            <a:r>
              <a:t>✦  TAHAP 06  |  TAHAP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Kesimpulan Analitis &amp; Rekomendasi Strategis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Temuan Kunci Sains Data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Kesimpulan Analitik Pipeline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Integritas Data Pipeline: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Pipeline berhasil menyatukan data Airflow/MySQL dan API dengan teknik sanitasi deret waktu tanpa distorsi.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Skala Demografi Menentukan Output: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Korelasi kuat antara populasi dan GDP membuktikan pasar domestik yang besar di kawasan adalah motor penggerak utama pertumbuhan.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Akurasi Model Sangat Tinggi: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Skor R² sebesar 92.7% membuktikan Random Forest andal dalam memproyeksikan skala makroekonomi jangka panjang.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✔ Arsitektur Decoupled Teruji: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Pemisahan process.py dan app.py menghasilkan kode yang bersih, mudah di-maintenance, dan tahan terhadap kegagalan jaringan.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019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Rekomendasi Kebijakan &amp; Implementasi</a:t>
            </a:r>
          </a:p>
          <a:p>
            <a:pPr>
              <a:spcAft>
                <a:spcPts val="600"/>
              </a:spcAft>
              <a:defRPr sz="950">
                <a:solidFill>
                  <a:srgbClr val="38BDF8"/>
                </a:solidFill>
                <a:latin typeface="Arial"/>
              </a:defRPr>
            </a:pPr>
            <a:r>
              <a:t>Aksi Strategis Berbasis Data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➔ Peningkatan Kualitas Tenaga Kerja: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Karena populasi adalah prediktor dominan, investasi pada pendidikan dan pelatihan vokasi akan melipatgandakan output GDP per kapita.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➔ Penambahan Fitur Makroekonomi: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Pengembangan model selanjutnya dapat menambahkan variabel inflasi tahunan, suku bunga bank sentral, dan arus FDI.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➔ Automasi Retraining Airflow: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Mengatur DAG Airflow untuk menjalankan retraining model secara terjadwal setiap kuartal guna mendeteksi pergeseran pola ekonomi (data drift).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</TotalTime>
  <Words>2326</Words>
  <Application>Microsoft Office PowerPoint</Application>
  <PresentationFormat>Widescreen</PresentationFormat>
  <Paragraphs>246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Safaril Adam</cp:lastModifiedBy>
  <cp:revision>2</cp:revision>
  <dcterms:created xsi:type="dcterms:W3CDTF">2013-01-27T09:14:16Z</dcterms:created>
  <dcterms:modified xsi:type="dcterms:W3CDTF">2026-10-08T00:58:43Z</dcterms:modified>
  <cp:category/>
</cp:coreProperties>
</file>